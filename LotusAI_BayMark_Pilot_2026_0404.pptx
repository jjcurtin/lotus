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1" d="100"/>
          <a:sy n="111" d="100"/>
        </p:scale>
        <p:origin x="-20" y="-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962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0" y="274320"/>
            <a:ext cx="3657600" cy="3657600"/>
          </a:xfrm>
          <a:prstGeom prst="ellipse">
            <a:avLst/>
          </a:prstGeom>
          <a:solidFill>
            <a:srgbClr val="C4A088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5087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LotusAI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731520" y="24231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Recovery Companion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Outcomes Intelligence Platform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3383280"/>
            <a:ext cx="914400" cy="32004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BayMark Health Services — California Pilot Proposal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Is Raising the Bar.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Providers Without Data Will Fall Behind.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514600" cy="45720"/>
          </a:xfrm>
          <a:prstGeom prst="rect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3A33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86080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DHCS Demands Measurable Outcomes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California's DHCS and DMC-ODS now require providers to demonstrate measurable patient outcomes. Programs without data-backed results risk losing contracts, referrals, and Medi-Cal reimbursements.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77240" y="4023360"/>
            <a:ext cx="2240280" cy="9144"/>
          </a:xfrm>
          <a:prstGeom prst="rect">
            <a:avLst/>
          </a:prstGeom>
          <a:solidFill>
            <a:srgbClr val="E8D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4069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7240" y="4343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BayMark CA clinics have automated outcome tracking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29000" y="155448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29000" y="1554480"/>
            <a:ext cx="25146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11880" y="1783080"/>
            <a:ext cx="457200" cy="457200"/>
          </a:xfrm>
          <a:prstGeom prst="ellipse">
            <a:avLst/>
          </a:prstGeom>
          <a:solidFill>
            <a:srgbClr val="3A33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186080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Slipping Through the Cracks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56616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 of billable services go untracked. Without digital engagement data, RTM, DTx, and BHI billing codes are missed — leaving tens of thousands per clinic unidentified every month.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566160" y="4023360"/>
            <a:ext cx="2240280" cy="9144"/>
          </a:xfrm>
          <a:prstGeom prst="rect">
            <a:avLst/>
          </a:prstGeom>
          <a:solidFill>
            <a:srgbClr val="E8D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566160" y="4069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A0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$$$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3566160" y="4343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missed RTM, DTx &amp; BHI codes per clinic per month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17920" y="155448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217920" y="1554480"/>
            <a:ext cx="2514600" cy="45720"/>
          </a:xfrm>
          <a:prstGeom prst="rect">
            <a:avLst/>
          </a:prstGeom>
          <a:solidFill>
            <a:srgbClr val="D473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3A33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524" y="1860804"/>
            <a:ext cx="301752" cy="30175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5508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Are Burned Out &amp; Blind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35508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Counselors spend hours on documentation instead of patient care. Between sessions, there's zero visibility into patient risk — high-risk patients fall through the cracks with no warning.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355080" y="4023360"/>
            <a:ext cx="2240280" cy="9144"/>
          </a:xfrm>
          <a:prstGeom prst="rect">
            <a:avLst/>
          </a:prstGeom>
          <a:solidFill>
            <a:srgbClr val="E8D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355080" y="4069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7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2000" dirty="0"/>
          </a:p>
        </p:txBody>
      </p:sp>
      <p:sp>
        <p:nvSpPr>
          <p:cNvPr id="31" name="Text 26"/>
          <p:cNvSpPr/>
          <p:nvPr/>
        </p:nvSpPr>
        <p:spPr>
          <a:xfrm>
            <a:off x="6355080" y="4343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clinicians report documentation burden as top stressor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73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Month Without Data Is a Month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Lost Revenue and Rising Risk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828800" cy="1463040"/>
          </a:xfrm>
          <a:prstGeom prst="rect">
            <a:avLst/>
          </a:prstGeom>
          <a:solidFill>
            <a:srgbClr val="4A434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4A0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$55–100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Patient Per Month in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Billable 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737360"/>
            <a:ext cx="1828800" cy="1463040"/>
          </a:xfrm>
          <a:prstGeom prst="rect">
            <a:avLst/>
          </a:prstGeom>
          <a:solidFill>
            <a:srgbClr val="4A434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7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10–20%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Code-Eligible Services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Untracked Today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737360"/>
            <a:ext cx="1828800" cy="1463040"/>
          </a:xfrm>
          <a:prstGeom prst="rect">
            <a:avLst/>
          </a:prstGeom>
          <a:solidFill>
            <a:srgbClr val="4A434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B8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Between-Session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Visibility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737360"/>
            <a:ext cx="1828800" cy="1463040"/>
          </a:xfrm>
          <a:prstGeom prst="rect">
            <a:avLst/>
          </a:prstGeom>
          <a:solidFill>
            <a:srgbClr val="4A434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A8E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49440" y="2514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Documentation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Burden on Clinicians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7863840" cy="1005840"/>
          </a:xfrm>
          <a:prstGeom prst="rect">
            <a:avLst/>
          </a:prstGeom>
          <a:solidFill>
            <a:srgbClr val="4A434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4904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3611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5-clinic California region with ~500 total patients, this means an estimated $300K–$600K per year in unidentified billable value — plus growing compliance risk as DHCS tightens outcome requirements.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 err="1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LotusAI</a:t>
            </a: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Turns Recovery Data Into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Outcomes Intelligence &amp; Revenue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06040" cy="77724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190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AI Companion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recovery companion "Sage" (24/7)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Daily check-ins: mood, cravings, meds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50-lesson CBT workbook (~3 min each)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Gamification, streaks, XP milestones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notifications &amp; re-engagement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Network &amp; Rewards Center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554480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37560" y="1554480"/>
            <a:ext cx="2606040" cy="777240"/>
          </a:xfrm>
          <a:prstGeom prst="rect">
            <a:avLst/>
          </a:prstGeom>
          <a:solidFill>
            <a:srgbClr val="3A33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71907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Intelligence Dashboard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20440" y="24688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patient risk scores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Predictive alerts &amp; AI insights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PHQ-9 / GAD-7 longitudinal tracking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Session prep &amp; engagement heatmaps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clinical summaries &amp; documentation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Cohort-level outcome analytics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554480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17920" y="1554480"/>
            <a:ext cx="2606040" cy="77724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71907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 Engine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0" y="24688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Billing code eligibility tracking (auto)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RTM 16-day threshold monitoring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DTx (G0553) code qualification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BHI 99484 adherence tracking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Predictive 30-day revenue forecasts</a:t>
            </a:r>
            <a:endParaRPr lang="en-US" sz="10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EHR sync to Kipu for claims submission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Steps — From Patient Data to Revenue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5820" y="1280160"/>
            <a:ext cx="548640" cy="548640"/>
          </a:xfrm>
          <a:prstGeom prst="ellipse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58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01952" y="1353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150876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Logs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Mood, cravings, meds,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journal, CBT workbook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83180" y="1280160"/>
            <a:ext cx="548640" cy="548640"/>
          </a:xfrm>
          <a:prstGeom prst="ellipse">
            <a:avLst/>
          </a:prstGeom>
          <a:solidFill>
            <a:srgbClr val="9B7A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831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39312" y="1353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103120" y="201168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03120" y="2011680"/>
            <a:ext cx="1508760" cy="45720"/>
          </a:xfrm>
          <a:prstGeom prst="rect">
            <a:avLst/>
          </a:prstGeom>
          <a:solidFill>
            <a:srgbClr val="9B7A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94560" y="21488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Structures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Insights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283464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scores, sentiment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code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20540" y="1280160"/>
            <a:ext cx="548640" cy="548640"/>
          </a:xfrm>
          <a:prstGeom prst="ellipse">
            <a:avLst/>
          </a:prstGeom>
          <a:solidFill>
            <a:srgbClr val="3A3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205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76672" y="1353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840480" y="201168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0" y="2011680"/>
            <a:ext cx="1508760" cy="45720"/>
          </a:xfrm>
          <a:prstGeom prst="rect">
            <a:avLst/>
          </a:prstGeom>
          <a:solidFill>
            <a:srgbClr val="3A3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31920" y="21488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Intervenes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31920" y="283464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alerts,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prep, predictive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57900" y="1280160"/>
            <a:ext cx="548640" cy="54864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579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14032" y="1353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577840" y="201168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77840" y="2011680"/>
            <a:ext cx="150876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0" y="21488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Generates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283464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Code-eligible data,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notes,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reports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95260" y="1280160"/>
            <a:ext cx="548640" cy="548640"/>
          </a:xfrm>
          <a:prstGeom prst="ellipse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952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315200" y="201168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15200" y="2011680"/>
            <a:ext cx="1508760" cy="4572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06640" y="21488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Receives Data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Bills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06640" y="283464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Auto-synced to Kipu.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team submits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claims submitted by your billing team via Kipu. RecoveryAI identifies the revenue — you capture it.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Estimated Billable Value Per Patient, Per Month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62340"/>
              </p:ext>
            </p:extLst>
          </p:nvPr>
        </p:nvGraphicFramePr>
        <p:xfrm>
          <a:off x="640080" y="1188720"/>
          <a:ext cx="7537761" cy="2377440"/>
        </p:xfrm>
        <a:graphic>
          <a:graphicData uri="http://schemas.openxmlformats.org/drawingml/2006/table">
            <a:tbl>
              <a:tblPr/>
              <a:tblGrid>
                <a:gridCol w="1319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8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4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RecoveryAI Tracks Eligibility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$/Pt/Mo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A3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RTM (98975-81)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Therapeutic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check-ins auto-qualify 16-day threshold; data synced to Kipu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$30–55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A3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DTx (G0553/54)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Therapeutics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50-lesson CBT workbook completions tracked for code qualification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$15–25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A3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BHI (99484)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Health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 adherence tracker feeds compliance data to EHR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$10–20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A3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DMC-ODS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Medi-Cal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Organized Delivery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ASAM-aligned engagement documentation &amp; audit 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Varies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703320"/>
            <a:ext cx="7537761" cy="640080"/>
          </a:xfrm>
          <a:prstGeom prst="rect">
            <a:avLst/>
          </a:prstGeom>
          <a:solidFill>
            <a:srgbClr val="3A33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/>
          <p:nvPr/>
        </p:nvSpPr>
        <p:spPr>
          <a:xfrm>
            <a:off x="731520" y="3703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Billable Value Identified: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1" y="3703320"/>
            <a:ext cx="30566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4A0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$55–100 per patient per month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All claims are submitted by your billing team via Kipu. RecoveryAI provides engagement data and code eligibility — not the billing itself.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ROI Across Your California Programs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246888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4A0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+$22K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Billable Value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(100 IOP Pts)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46888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5–10×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468880" cy="4572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10–20%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Missed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Revenue Found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51760"/>
          <a:ext cx="786384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$14,500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$174,000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$39,500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$474,000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$38,000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$456,000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$17,000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7A6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$204,000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LEADERSHIP &amp; 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922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Evidence-Based, Clinician-Led, Enterprise-Secure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731520"/>
          </a:xfrm>
          <a:prstGeom prst="rect">
            <a:avLst/>
          </a:prstGeom>
          <a:solidFill>
            <a:srgbClr val="3A33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8988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325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Director &amp; Study Lead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Professor John Cuftin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514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Product &amp; Clinical Officer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83464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Leads 90-120 day clinical study design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ASAM &amp; evidence-based protocol development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PHQ-9/GAD-7 validated assessment integration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 measurement &amp; reporting framework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IRB-ready research methodology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Published researcher in addiction treatment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280160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6320" y="1280160"/>
            <a:ext cx="54864" cy="713232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2646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353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57784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Harbor de-identification across all provider-facing views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846320" y="2121408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846320" y="2121408"/>
            <a:ext cx="54864" cy="713232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26771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7784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CFR Part 2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57784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substance use disorder confidentiality compliance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846320" y="2962656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846320" y="2962656"/>
            <a:ext cx="54864" cy="713232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1089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3035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DMC-ODS &amp; ASAM Aligned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57784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documentation for all levels of care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846320" y="3803904"/>
            <a:ext cx="3840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846320" y="3803904"/>
            <a:ext cx="54864" cy="713232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95020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77840" y="3877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3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Kipu EHR Integration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577840" y="4151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data sync with role-based access control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33" name="Text 26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PROPOSAL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548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California Clinics · 90–120 Days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Measurable Outcomes from Day One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4023360" cy="3108960"/>
          </a:xfrm>
          <a:prstGeom prst="rect">
            <a:avLst/>
          </a:prstGeom>
          <a:solidFill>
            <a:srgbClr val="4A434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RecoveryAI platform deployment (iOS + Android)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Clinician Intelligence Dashboard for each clinic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 Intelligence &amp; Code Optimization Engine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Companion "Sage" for 24/7 patient support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Kipu EHR integration (real-time data sync)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Predictive analytics engine (30-day forecasts)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onboarding, training &amp; support team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90–120 day clinical study led by Prof. John Cuftin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 analytics &amp; payer-ready reporting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3108960"/>
          </a:xfrm>
          <a:prstGeom prst="rect">
            <a:avLst/>
          </a:prstGeom>
          <a:solidFill>
            <a:srgbClr val="4A434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4632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STRUCTURE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4632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9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BayMark CA facilities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179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90–120 days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4632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179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 · PHP · Residential · Detox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Lead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John Cuftin, CPCO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4632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179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$350,000 (tech build + study)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4632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1792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patient outcomes +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code identification lift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4632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1792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for enterprise rollout upon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pilot results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BAYMARK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Just a Vendor Pitch.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Co-Development Partnership.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Chose BayMark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Largest privately owned addiction treatment provider in US &amp; Canada — unmatched scale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 California presence with multi-level ASAM programs across diverse populations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Operational leadership (Matt) who understands frontline clinical + revenue challenges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Kipu EHR standardization enables rapid integration and data flow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BayMark's feedback shapes a product built for the real world — not a lab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2336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Matt &amp; BayMark Gets as Stakeholder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Direct input on product roadmap &amp; feature priorities — your challenges drive our build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First-mover advantage: technology purpose-built for BayMark's operational model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Priority pricing and preferred partner terms on enterprise rollout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Co-published clinical outcomes data to strengthen payer negotiations</a:t>
            </a:r>
            <a:endParaRPr lang="en-US" sz="1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Consumer app integration: BayMark as preferred service provider when users reach out for help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33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Every Leader at BayMark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59436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CEO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Differentiated market positioning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Data-backed program effectiveness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Scalable across all ASAM levels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Enterprise-ready from day one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Consumer app funnel drives new patients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606040" cy="5943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280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CFO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New RTM + DTx + BHI code visibility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Predictive revenue forecasting (AI)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 +$17K/mo identified (100 IOP pts)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5–10× ROI on platform cost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Audit-ready documentation reduces 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06040" cy="59436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2801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Clinical Directors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0574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patient risk visibility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documentation burden by 40%+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ASAM / DMC-ODS compliance built in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Evidence-based outcome tracking</a:t>
            </a:r>
            <a:endParaRPr lang="en-US" sz="1000" dirty="0"/>
          </a:p>
          <a:p>
            <a:pPr marL="0" indent="0">
              <a:lnSpc>
                <a:spcPct val="185000"/>
              </a:lnSpc>
              <a:buNone/>
            </a:pPr>
            <a:r>
              <a:rPr lang="en-US" sz="10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Between-session patient engagement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A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ZERO-RISK ENGAGEMENT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Paths to Yes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4A434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FUND THE PILOT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$350K </a:t>
            </a: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platform build + 90–120-day clinical study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3–5 CA clinics with dedicated support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 product roadmap influence as co-builder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First-mover advantage + preferred pricing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Consumer app: BayMark as preferred partner-provider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Co-published outcomes for payer negotiations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LOI for enterprise rollout upon success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4A434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45720"/>
          </a:xfrm>
          <a:prstGeom prst="rect">
            <a:avLst/>
          </a:prstGeom>
          <a:solidFill>
            <a:srgbClr val="7A9E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LOI + WE RAISE CAPITAL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 from BayMark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BayMark provides LOI for pilot partnership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 raise $300–350K pre-seed independently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BayMark provides 3–5 clinic access + feedback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financial risk for BayMark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Still receive stakeholder input + preferred terms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Consumer app integration as service provider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Enterprise deal upon successful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3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132320" y="2743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40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Future of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Together.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914400" cy="32004"/>
          </a:xfrm>
          <a:prstGeom prst="rect">
            <a:avLst/>
          </a:prstGeom>
          <a:solidFill>
            <a:srgbClr val="C4A0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LotusAI</a:t>
            </a:r>
            <a:r>
              <a:rPr lang="en-US" sz="12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just a technology platform — it's a chance for BayMark to lead the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 data-driven recovery outcomes and unlock significant untapped revenue.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Alpa Patel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31520" y="3886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1520" y="4160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424.410.3603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A8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alpa@skyaitechnologies.com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109029" y="3037114"/>
            <a:ext cx="3657600" cy="1645920"/>
          </a:xfrm>
          <a:prstGeom prst="rect">
            <a:avLst/>
          </a:prstGeom>
          <a:solidFill>
            <a:srgbClr val="4A434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212080" y="307467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4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212080" y="32461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Align on pilot scope &amp; clinic selection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Sign LOI or funding agreement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Begin 90-day build + deployment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D4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Measure outcomes → Enterprise deal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T U S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7132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6B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1482</Words>
  <Application>Microsoft Office PowerPoint</Application>
  <PresentationFormat>On-screen Show (16:9)</PresentationFormat>
  <Paragraphs>311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RecoveryAI — BayMark California Pilot Proposal</dc:title>
  <dc:subject>PptxGenJS Presentation</dc:subject>
  <dc:creator>Lotus | RecoveryAI</dc:creator>
  <cp:lastModifiedBy>alpa patel</cp:lastModifiedBy>
  <cp:revision>10</cp:revision>
  <dcterms:created xsi:type="dcterms:W3CDTF">2026-04-04T11:32:41Z</dcterms:created>
  <dcterms:modified xsi:type="dcterms:W3CDTF">2026-04-04T11:46:28Z</dcterms:modified>
</cp:coreProperties>
</file>